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2803763" cy="30275213"/>
  <p:notesSz cx="29818013" cy="42348150"/>
  <p:defaultTextStyle>
    <a:defPPr>
      <a:defRPr lang="en-US"/>
    </a:defPPr>
    <a:lvl1pPr marL="0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1pPr>
    <a:lvl2pPr marL="2159707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2pPr>
    <a:lvl3pPr marL="4319413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3pPr>
    <a:lvl4pPr marL="6479120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4pPr>
    <a:lvl5pPr marL="8638827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5pPr>
    <a:lvl6pPr marL="10798533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6pPr>
    <a:lvl7pPr marL="12958239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7pPr>
    <a:lvl8pPr marL="15117946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8pPr>
    <a:lvl9pPr marL="17277652" algn="l" defTabSz="4319413" rtl="0" eaLnBrk="1" latinLnBrk="0" hangingPunct="1">
      <a:defRPr sz="84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134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735"/>
    <a:srgbClr val="D7E4BD"/>
    <a:srgbClr val="B9CDE5"/>
    <a:srgbClr val="EBF1D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4676" autoAdjust="0"/>
  </p:normalViewPr>
  <p:slideViewPr>
    <p:cSldViewPr>
      <p:cViewPr>
        <p:scale>
          <a:sx n="30" d="100"/>
          <a:sy n="30" d="100"/>
        </p:scale>
        <p:origin x="3294" y="78"/>
      </p:cViewPr>
      <p:guideLst>
        <p:guide orient="horz" pos="9536"/>
        <p:guide pos="134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1614770" y="2"/>
            <a:ext cx="1188994" cy="302752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endParaRPr lang="en-US" sz="10936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2"/>
            <a:ext cx="1188994" cy="302752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endParaRPr lang="en-US" sz="10936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1"/>
            <a:ext cx="42803763" cy="37844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endParaRPr lang="en-US" sz="10936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26490813"/>
            <a:ext cx="42803763" cy="3784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endParaRPr lang="en-US" sz="10936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7834901" y="2"/>
            <a:ext cx="16645908" cy="302752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9972" tIns="289972" rIns="289972" bIns="289972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117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11737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8001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8001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8001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117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117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8001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8001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117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11737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117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8001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8001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8001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3044"/>
              </a:spcAft>
            </a:pPr>
            <a:r>
              <a:rPr lang="en-US" sz="800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3044"/>
              </a:spcAft>
            </a:pPr>
            <a:br>
              <a:rPr lang="en-US" sz="5868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5868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3992758" y="2"/>
            <a:ext cx="16645908" cy="30275213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11737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11737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11737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11737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8001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8001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8001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11737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8001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8001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3044"/>
                </a:spcAft>
              </a:pP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8001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800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5868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5868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7591" y="30070249"/>
            <a:ext cx="7491594" cy="1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0189" y="1212413"/>
            <a:ext cx="38523388" cy="5045869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0189" y="7064219"/>
            <a:ext cx="38523388" cy="19980241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40189" y="28060640"/>
            <a:ext cx="9987544" cy="1611875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7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624620" y="28060640"/>
            <a:ext cx="13554525" cy="1611875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7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676031" y="28060640"/>
            <a:ext cx="9987544" cy="1611875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73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5567638" rtl="0" eaLnBrk="1" latinLnBrk="0" hangingPunct="1">
        <a:spcBef>
          <a:spcPct val="0"/>
        </a:spcBef>
        <a:buNone/>
        <a:defRPr sz="101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9962" indent="-579962" algn="l" defTabSz="5567638" rtl="0" eaLnBrk="1" latinLnBrk="0" hangingPunct="1">
        <a:spcBef>
          <a:spcPct val="20000"/>
        </a:spcBef>
        <a:buFont typeface="Arial" pitchFamily="34" charset="0"/>
        <a:buChar char="•"/>
        <a:defRPr sz="4534" kern="1200">
          <a:solidFill>
            <a:schemeClr val="tx1"/>
          </a:solidFill>
          <a:latin typeface="+mn-lt"/>
          <a:ea typeface="+mn-ea"/>
          <a:cs typeface="+mn-cs"/>
        </a:defRPr>
      </a:lvl1pPr>
      <a:lvl2pPr marL="1159924" indent="-579962" algn="l" defTabSz="5567638" rtl="0" eaLnBrk="1" latinLnBrk="0" hangingPunct="1">
        <a:spcBef>
          <a:spcPct val="20000"/>
        </a:spcBef>
        <a:buFont typeface="Arial" pitchFamily="34" charset="0"/>
        <a:buChar char="–"/>
        <a:defRPr sz="4534" kern="1200">
          <a:solidFill>
            <a:schemeClr val="tx1"/>
          </a:solidFill>
          <a:latin typeface="+mn-lt"/>
          <a:ea typeface="+mn-ea"/>
          <a:cs typeface="+mn-cs"/>
        </a:defRPr>
      </a:lvl2pPr>
      <a:lvl3pPr marL="1739887" indent="-579962" algn="l" defTabSz="5567638" rtl="0" eaLnBrk="1" latinLnBrk="0" hangingPunct="1">
        <a:spcBef>
          <a:spcPct val="20000"/>
        </a:spcBef>
        <a:buFont typeface="Arial" pitchFamily="34" charset="0"/>
        <a:buChar char="•"/>
        <a:defRPr sz="4534" kern="1200">
          <a:solidFill>
            <a:schemeClr val="tx1"/>
          </a:solidFill>
          <a:latin typeface="+mn-lt"/>
          <a:ea typeface="+mn-ea"/>
          <a:cs typeface="+mn-cs"/>
        </a:defRPr>
      </a:lvl3pPr>
      <a:lvl4pPr marL="2319849" indent="-579962" algn="l" defTabSz="5567638" rtl="0" eaLnBrk="1" latinLnBrk="0" hangingPunct="1">
        <a:spcBef>
          <a:spcPct val="20000"/>
        </a:spcBef>
        <a:buFont typeface="Arial" pitchFamily="34" charset="0"/>
        <a:buChar char="–"/>
        <a:defRPr sz="4534" kern="1200">
          <a:solidFill>
            <a:schemeClr val="tx1"/>
          </a:solidFill>
          <a:latin typeface="+mn-lt"/>
          <a:ea typeface="+mn-ea"/>
          <a:cs typeface="+mn-cs"/>
        </a:defRPr>
      </a:lvl4pPr>
      <a:lvl5pPr marL="2899811" indent="-579962" algn="l" defTabSz="5567638" rtl="0" eaLnBrk="1" latinLnBrk="0" hangingPunct="1">
        <a:spcBef>
          <a:spcPct val="20000"/>
        </a:spcBef>
        <a:buFont typeface="Arial" pitchFamily="34" charset="0"/>
        <a:buChar char="»"/>
        <a:defRPr sz="4534" kern="1200">
          <a:solidFill>
            <a:schemeClr val="tx1"/>
          </a:solidFill>
          <a:latin typeface="+mn-lt"/>
          <a:ea typeface="+mn-ea"/>
          <a:cs typeface="+mn-cs"/>
        </a:defRPr>
      </a:lvl5pPr>
      <a:lvl6pPr marL="15311003" indent="-1391909" algn="l" defTabSz="5567638" rtl="0" eaLnBrk="1" latinLnBrk="0" hangingPunct="1">
        <a:spcBef>
          <a:spcPct val="20000"/>
        </a:spcBef>
        <a:buFont typeface="Arial" pitchFamily="34" charset="0"/>
        <a:buChar char="•"/>
        <a:defRPr sz="12137" kern="1200">
          <a:solidFill>
            <a:schemeClr val="tx1"/>
          </a:solidFill>
          <a:latin typeface="+mn-lt"/>
          <a:ea typeface="+mn-ea"/>
          <a:cs typeface="+mn-cs"/>
        </a:defRPr>
      </a:lvl6pPr>
      <a:lvl7pPr marL="18094822" indent="-1391909" algn="l" defTabSz="5567638" rtl="0" eaLnBrk="1" latinLnBrk="0" hangingPunct="1">
        <a:spcBef>
          <a:spcPct val="20000"/>
        </a:spcBef>
        <a:buFont typeface="Arial" pitchFamily="34" charset="0"/>
        <a:buChar char="•"/>
        <a:defRPr sz="12137" kern="1200">
          <a:solidFill>
            <a:schemeClr val="tx1"/>
          </a:solidFill>
          <a:latin typeface="+mn-lt"/>
          <a:ea typeface="+mn-ea"/>
          <a:cs typeface="+mn-cs"/>
        </a:defRPr>
      </a:lvl7pPr>
      <a:lvl8pPr marL="20878641" indent="-1391909" algn="l" defTabSz="5567638" rtl="0" eaLnBrk="1" latinLnBrk="0" hangingPunct="1">
        <a:spcBef>
          <a:spcPct val="20000"/>
        </a:spcBef>
        <a:buFont typeface="Arial" pitchFamily="34" charset="0"/>
        <a:buChar char="•"/>
        <a:defRPr sz="12137" kern="1200">
          <a:solidFill>
            <a:schemeClr val="tx1"/>
          </a:solidFill>
          <a:latin typeface="+mn-lt"/>
          <a:ea typeface="+mn-ea"/>
          <a:cs typeface="+mn-cs"/>
        </a:defRPr>
      </a:lvl8pPr>
      <a:lvl9pPr marL="23662459" indent="-1391909" algn="l" defTabSz="5567638" rtl="0" eaLnBrk="1" latinLnBrk="0" hangingPunct="1">
        <a:spcBef>
          <a:spcPct val="20000"/>
        </a:spcBef>
        <a:buFont typeface="Arial" pitchFamily="34" charset="0"/>
        <a:buChar char="•"/>
        <a:defRPr sz="12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1pPr>
      <a:lvl2pPr marL="2783818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2pPr>
      <a:lvl3pPr marL="5567638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3pPr>
      <a:lvl4pPr marL="8351456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4pPr>
      <a:lvl5pPr marL="11135277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5pPr>
      <a:lvl6pPr marL="13919093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6pPr>
      <a:lvl7pPr marL="16702912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7pPr>
      <a:lvl8pPr marL="19486731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8pPr>
      <a:lvl9pPr marL="22270550" algn="l" defTabSz="5567638" rtl="0" eaLnBrk="1" latinLnBrk="0" hangingPunct="1">
        <a:defRPr sz="109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5387919" y="-285911"/>
            <a:ext cx="32012839" cy="2341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31978" tIns="579944" rIns="231978" bIns="579944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2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In-body Antigen Detection via Antibodies on a Transistor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7320305" y="2472039"/>
            <a:ext cx="28163151" cy="1411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31978" tIns="231978" rIns="231978" bIns="231978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tr-TR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Duran Kaan Altın - Advisors: Professor Tuna Tuğcu,  Professor Kutlu Ülgen - Boğaziçi University, CMPE 492</a:t>
            </a:r>
            <a:endParaRPr lang="en-US" sz="4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401882" y="39542836"/>
            <a:ext cx="17940632" cy="3804880"/>
          </a:xfrm>
          <a:prstGeom prst="rect">
            <a:avLst/>
          </a:prstGeom>
          <a:noFill/>
        </p:spPr>
        <p:txBody>
          <a:bodyPr wrap="square" lIns="115988" tIns="115988" rIns="115988" bIns="115988" numCol="1" spcCol="434850" rtlCol="0">
            <a:noAutofit/>
          </a:bodyPr>
          <a:lstStyle/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</a:t>
            </a:r>
          </a:p>
          <a:p>
            <a:pPr marL="579962" indent="-579962">
              <a:buFont typeface="+mj-lt"/>
              <a:buAutoNum type="arabicPeriod"/>
            </a:pPr>
            <a:r>
              <a:rPr lang="en-US" sz="2134" dirty="0"/>
              <a:t>  </a:t>
            </a:r>
          </a:p>
          <a:p>
            <a:pPr marL="579962" indent="-579962">
              <a:buFont typeface="+mj-lt"/>
              <a:buAutoNum type="arabicPeriod"/>
            </a:pPr>
            <a:endParaRPr lang="en-US" sz="2134" dirty="0"/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282401" y="11782092"/>
            <a:ext cx="8754661" cy="231514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231978" tIns="231978" rIns="231978" bIns="23197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+mn-lt"/>
              </a:rPr>
              <a:t>• HER2 is a clinically important breast cancer biomarker.</a:t>
            </a:r>
          </a:p>
          <a:p>
            <a:pPr eaLnBrk="1" hangingPunct="1"/>
            <a:r>
              <a:rPr lang="en-US" sz="2000" dirty="0">
                <a:latin typeface="+mn-lt"/>
              </a:rPr>
              <a:t>• Tumor-derived molecules can move through lymphatic pathways toward regional lymph nodes.</a:t>
            </a:r>
          </a:p>
          <a:p>
            <a:pPr eaLnBrk="1" hangingPunct="1"/>
            <a:r>
              <a:rPr lang="en-US" sz="2000" dirty="0">
                <a:latin typeface="+mn-lt"/>
              </a:rPr>
              <a:t>• A sensor cannot detect HER2 until molecules reach the sensing surface.</a:t>
            </a:r>
          </a:p>
          <a:p>
            <a:pPr eaLnBrk="1" hangingPunct="1"/>
            <a:r>
              <a:rPr lang="en-US" sz="2000" dirty="0">
                <a:latin typeface="+mn-lt"/>
              </a:rPr>
              <a:t>• Therefore, transport, sensor placement, and local exposure are part of the detection problem.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9896" y="10681372"/>
            <a:ext cx="8754661" cy="11007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Problem and Biological Motivation</a:t>
            </a:r>
            <a:endParaRPr lang="en-US" sz="40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EC0F7-0F6D-DBD8-B0BB-177C2AAE1D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8181" y="161873"/>
            <a:ext cx="3428666" cy="3428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F34D6-F3A3-D523-774A-7CCD147CCF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30" y="169190"/>
            <a:ext cx="3428666" cy="3428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3C89B8-5788-83FC-CDD1-D11B5C4451DC}"/>
              </a:ext>
            </a:extLst>
          </p:cNvPr>
          <p:cNvSpPr txBox="1"/>
          <p:nvPr/>
        </p:nvSpPr>
        <p:spPr>
          <a:xfrm>
            <a:off x="36852" y="29837979"/>
            <a:ext cx="1937000" cy="554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001" b="1" dirty="0"/>
              <a:t>References</a:t>
            </a:r>
            <a:endParaRPr lang="LID4096" sz="3001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1D4998-0934-FE16-B200-B5BC34B0CC6F}"/>
              </a:ext>
            </a:extLst>
          </p:cNvPr>
          <p:cNvSpPr txBox="1"/>
          <p:nvPr/>
        </p:nvSpPr>
        <p:spPr>
          <a:xfrm>
            <a:off x="8319732" y="20519464"/>
            <a:ext cx="13408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>
                <a:solidFill>
                  <a:schemeClr val="bg1"/>
                </a:solidFill>
              </a:rPr>
              <a:t>Own COMSOL work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DBF63F4-EE10-E77B-19B2-C0DF17161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8" y="27939206"/>
            <a:ext cx="1937000" cy="1937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F1584E2-E0A3-EFE4-663E-55102459234D}"/>
              </a:ext>
            </a:extLst>
          </p:cNvPr>
          <p:cNvSpPr/>
          <p:nvPr/>
        </p:nvSpPr>
        <p:spPr>
          <a:xfrm>
            <a:off x="11843718" y="9141751"/>
            <a:ext cx="8754660" cy="11752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Simulation Pipeline</a:t>
            </a:r>
            <a:endParaRPr lang="en-US" sz="40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2" name="Text Box 189">
            <a:extLst>
              <a:ext uri="{FF2B5EF4-FFF2-40B4-BE49-F238E27FC236}">
                <a16:creationId xmlns:a16="http://schemas.microsoft.com/office/drawing/2014/main" id="{2EEAB780-0DD1-0AB1-EAB6-DAD8D51E1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3718" y="10316981"/>
            <a:ext cx="8754660" cy="29306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231978" tIns="231978" rIns="231978" bIns="23197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" sz="2000" dirty="0">
                <a:latin typeface="+mn-lt"/>
              </a:rPr>
              <a:t>• M1: HER2-antibody binding kinetics.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M2: diffusion-only COMSOL transport baseline.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M2B: partially anatomical prescribed-flow convection-diffusion extension.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M3/M4: surface binding, bound molecule count, GFET current, LOD.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Experiments C–E: detectability, Debye screening, and design requirements.</a:t>
            </a:r>
            <a:endParaRPr lang="tr-TR" sz="2000" dirty="0">
              <a:latin typeface="+mn-lt"/>
            </a:endParaRPr>
          </a:p>
          <a:p>
            <a:pPr eaLnBrk="1" hangingPunct="1"/>
            <a:r>
              <a:rPr lang="" sz="2000" b="1" i="1" dirty="0">
                <a:latin typeface="+mn-lt"/>
              </a:rPr>
              <a:t>M2B is a partially anatomical prescribed-velocity extension, not a full anatomical lymph-node model.</a:t>
            </a:r>
            <a:endParaRPr lang="tr-TR" sz="2000" b="1" i="1" dirty="0">
              <a:latin typeface="+mn-lt"/>
            </a:endParaRPr>
          </a:p>
          <a:p>
            <a:pPr eaLnBrk="1" hangingPunct="1"/>
            <a:endParaRPr lang="tr-TR" sz="2000" dirty="0">
              <a:latin typeface="+mn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0258F8-66DA-3A08-21BA-662D1AF7452E}"/>
              </a:ext>
            </a:extLst>
          </p:cNvPr>
          <p:cNvSpPr/>
          <p:nvPr/>
        </p:nvSpPr>
        <p:spPr>
          <a:xfrm>
            <a:off x="22299897" y="18645494"/>
            <a:ext cx="8787392" cy="1401709"/>
          </a:xfrm>
          <a:prstGeom prst="rect">
            <a:avLst/>
          </a:prstGeom>
          <a:solidFill>
            <a:srgbClr val="9537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 2 </a:t>
            </a:r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Sensor Placement Matters</a:t>
            </a:r>
          </a:p>
        </p:txBody>
      </p:sp>
      <p:sp>
        <p:nvSpPr>
          <p:cNvPr id="49" name="Text Box 189">
            <a:extLst>
              <a:ext uri="{FF2B5EF4-FFF2-40B4-BE49-F238E27FC236}">
                <a16:creationId xmlns:a16="http://schemas.microsoft.com/office/drawing/2014/main" id="{F12E7736-349B-1F02-7020-C760CFE36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9897" y="20047204"/>
            <a:ext cx="8787392" cy="32384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231978" tIns="231978" rIns="231978" bIns="23197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" sz="2000" dirty="0">
                <a:latin typeface="+mn-lt"/>
              </a:rPr>
              <a:t>• Three sensor regions were evaluated: subcapsular/cortical, cortex-medulla transition, and medulla/hilum-side.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Subcapsular/cortical placement gives the strongest response under reference flow.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Current response at 6000 s increases under directional flow for all tested placements.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Placement affects response timing and pathway exposure.</a:t>
            </a:r>
            <a:endParaRPr lang="tr-TR" sz="2000" dirty="0">
              <a:latin typeface="+mn-lt"/>
            </a:endParaRPr>
          </a:p>
          <a:p>
            <a:pPr eaLnBrk="1" hangingPunct="1"/>
            <a:r>
              <a:rPr lang="en-US" sz="2000" b="1" i="1" dirty="0">
                <a:latin typeface="+mn-lt"/>
              </a:rPr>
              <a:t>Placement sweep is post-processed over the transport model, not a full </a:t>
            </a:r>
            <a:r>
              <a:rPr lang="tr-TR" sz="2000" b="1" i="1" dirty="0">
                <a:latin typeface="+mn-lt"/>
              </a:rPr>
              <a:t>remeshed</a:t>
            </a:r>
            <a:r>
              <a:rPr lang="en-US" sz="2000" b="1" i="1" dirty="0">
                <a:latin typeface="+mn-lt"/>
              </a:rPr>
              <a:t> COMSOL relocation study</a:t>
            </a:r>
            <a:r>
              <a:rPr lang="en-US" sz="2000" i="1" dirty="0">
                <a:latin typeface="+mn-lt"/>
              </a:rPr>
              <a:t>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AC6EDA-2959-C189-6BA0-E515462D91DF}"/>
              </a:ext>
            </a:extLst>
          </p:cNvPr>
          <p:cNvSpPr/>
          <p:nvPr/>
        </p:nvSpPr>
        <p:spPr>
          <a:xfrm>
            <a:off x="11843718" y="19899091"/>
            <a:ext cx="8754660" cy="13005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Lymph-Node-Inspired Transport Model</a:t>
            </a:r>
          </a:p>
        </p:txBody>
      </p:sp>
      <p:sp>
        <p:nvSpPr>
          <p:cNvPr id="52" name="Text Box 189">
            <a:extLst>
              <a:ext uri="{FF2B5EF4-FFF2-40B4-BE49-F238E27FC236}">
                <a16:creationId xmlns:a16="http://schemas.microsoft.com/office/drawing/2014/main" id="{1BC1393C-D20E-9A4E-9C22-2AF519F0B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3718" y="21199677"/>
            <a:ext cx="8754660" cy="32384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231978" tIns="231978" rIns="231978" bIns="23197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" sz="2000" dirty="0">
                <a:latin typeface="+mn-lt"/>
              </a:rPr>
              <a:t>• Outer region approximates cortex/capsule.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Inner region approximates medulla.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M2 baseline isolates heterogeneous diffusion.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M2B adds directional prescribed flow with afferent inlet regions and a hilum-side outlet.</a:t>
            </a:r>
            <a:br>
              <a:rPr lang="" sz="2000" dirty="0">
                <a:latin typeface="+mn-lt"/>
              </a:rPr>
            </a:br>
            <a:r>
              <a:rPr lang="" sz="2000" dirty="0">
                <a:latin typeface="+mn-lt"/>
              </a:rPr>
              <a:t>• The goal is to estimate HER2 exposure at the GFET sensing region.</a:t>
            </a:r>
            <a:endParaRPr lang="tr-TR" sz="2000" dirty="0">
              <a:latin typeface="+mn-lt"/>
            </a:endParaRPr>
          </a:p>
          <a:p>
            <a:pPr eaLnBrk="1" hangingPunct="1"/>
            <a:endParaRPr lang="tr-TR" sz="2000" dirty="0">
              <a:latin typeface="+mn-lt"/>
            </a:endParaRPr>
          </a:p>
          <a:p>
            <a:pPr eaLnBrk="1" hangingPunct="1"/>
            <a:r>
              <a:rPr lang="tr-TR" sz="2000" b="1" dirty="0">
                <a:latin typeface="+mn-lt"/>
              </a:rPr>
              <a:t>Convection-diffusion transport in M2B:</a:t>
            </a:r>
          </a:p>
          <a:p>
            <a:pPr eaLnBrk="1" hangingPunct="1"/>
            <a:endParaRPr lang="tr-TR" sz="2000" dirty="0">
              <a:latin typeface="+mn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66CC952-7106-9751-9CAD-552C59A1B5E4}"/>
              </a:ext>
            </a:extLst>
          </p:cNvPr>
          <p:cNvSpPr/>
          <p:nvPr/>
        </p:nvSpPr>
        <p:spPr>
          <a:xfrm>
            <a:off x="1279896" y="19043480"/>
            <a:ext cx="8754661" cy="10576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GFET-Based HER2 Detection Principle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Box 189">
                <a:extLst>
                  <a:ext uri="{FF2B5EF4-FFF2-40B4-BE49-F238E27FC236}">
                    <a16:creationId xmlns:a16="http://schemas.microsoft.com/office/drawing/2014/main" id="{698D4450-0A31-95D8-7924-271D02DCA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9896" y="20101130"/>
                <a:ext cx="8754661" cy="305381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231978" tIns="231978" rIns="231978" bIns="231978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" sz="2000" dirty="0">
                    <a:latin typeface="+mn-lt"/>
                  </a:rPr>
                  <a:t>• Antibodies immobilized on graphene selectively bind HER2 antigens.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Bound HER2 changes the local electrostatic environment near the graphene channel.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This perturbation changes the drain-source current,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ID4096" sz="200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The signal is modeled analytically from bound molecule count and coupling efficiency.</a:t>
                </a:r>
                <a:endParaRPr lang="tr-TR" sz="2000" dirty="0">
                  <a:latin typeface="+mn-lt"/>
                </a:endParaRPr>
              </a:p>
              <a:p>
                <a:pPr eaLnBrk="1" hangingPunct="1"/>
                <a:endParaRPr lang="tr-TR" sz="2400" dirty="0">
                  <a:latin typeface="+mn-lt"/>
                </a:endParaRPr>
              </a:p>
              <a:p>
                <a:pPr eaLnBrk="1" hangingPunct="1"/>
                <a:endParaRPr lang="en-US" sz="2400" dirty="0">
                  <a:latin typeface="+mn-lt"/>
                </a:endParaRPr>
              </a:p>
            </p:txBody>
          </p:sp>
        </mc:Choice>
        <mc:Fallback>
          <p:sp>
            <p:nvSpPr>
              <p:cNvPr id="55" name="Text Box 189">
                <a:extLst>
                  <a:ext uri="{FF2B5EF4-FFF2-40B4-BE49-F238E27FC236}">
                    <a16:creationId xmlns:a16="http://schemas.microsoft.com/office/drawing/2014/main" id="{698D4450-0A31-95D8-7924-271D02DCA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9896" y="20101130"/>
                <a:ext cx="8754661" cy="3053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 Box 123">
            <a:extLst>
              <a:ext uri="{FF2B5EF4-FFF2-40B4-BE49-F238E27FC236}">
                <a16:creationId xmlns:a16="http://schemas.microsoft.com/office/drawing/2014/main" id="{CB15C152-D795-01BB-21C5-0955CFE1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305" y="1236710"/>
            <a:ext cx="28163151" cy="1411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31978" tIns="231978" rIns="231978" bIns="231978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" sz="5400" b="1" dirty="0">
                <a:solidFill>
                  <a:srgbClr val="EBF1DE"/>
                </a:solidFill>
                <a:latin typeface="+mn-lt"/>
              </a:rPr>
              <a:t>Simulation-Based Feasibility Study of a GFET-HER2 Biosensor</a:t>
            </a:r>
            <a:endParaRPr lang="en-US" sz="4800" b="1" dirty="0">
              <a:solidFill>
                <a:srgbClr val="EBF1DE"/>
              </a:solidFill>
              <a:latin typeface="+mn-lt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32DCD612-AC35-BCF5-7DFC-7A929D78F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513" y="22056837"/>
            <a:ext cx="2021044" cy="110328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3FD0913-81AF-28DE-2067-D4F1A4F71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3718" y="4337099"/>
            <a:ext cx="8754660" cy="477915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BC90BE3-0514-2B30-0672-6B472AAFE2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71428" y="23278806"/>
            <a:ext cx="2021044" cy="1103282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E04654D2-2BA7-12AD-AB23-75FF3FF778FF}"/>
              </a:ext>
            </a:extLst>
          </p:cNvPr>
          <p:cNvSpPr/>
          <p:nvPr/>
        </p:nvSpPr>
        <p:spPr>
          <a:xfrm>
            <a:off x="22299897" y="9374512"/>
            <a:ext cx="8787392" cy="1411854"/>
          </a:xfrm>
          <a:prstGeom prst="rect">
            <a:avLst/>
          </a:prstGeom>
          <a:solidFill>
            <a:srgbClr val="9537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 1 </a:t>
            </a:r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Directional Flow Improves Exposure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 Box 189">
                <a:extLst>
                  <a:ext uri="{FF2B5EF4-FFF2-40B4-BE49-F238E27FC236}">
                    <a16:creationId xmlns:a16="http://schemas.microsoft.com/office/drawing/2014/main" id="{4E3A54A1-9206-0340-2930-030FCADCBC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99897" y="10786366"/>
                <a:ext cx="8787392" cy="23151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231978" tIns="231978" rIns="231978" bIns="231978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" sz="2000" dirty="0">
                    <a:latin typeface="+mn-lt"/>
                  </a:rPr>
                  <a:t>• At 10 pM HER2, diffusion-only transport gives 4.98 pM sensor concentration at 6000 s.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Reference flow,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 = 5 × 10⁻⁷ m/s, gives 8.73 pM at 6000 s.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This corresponds to approximately 1.75× higher late-time exposure.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Time</a:t>
                </a:r>
                <a:r>
                  <a:rPr lang="tr-TR" sz="2000" dirty="0">
                    <a:latin typeface="+mn-lt"/>
                  </a:rPr>
                  <a:t> </a:t>
                </a:r>
                <a:r>
                  <a:rPr lang="" sz="2000" dirty="0">
                    <a:latin typeface="+mn-lt"/>
                  </a:rPr>
                  <a:t>to</a:t>
                </a:r>
                <a:r>
                  <a:rPr lang="tr-TR" sz="2000" dirty="0">
                    <a:latin typeface="+mn-lt"/>
                  </a:rPr>
                  <a:t> </a:t>
                </a:r>
                <a:r>
                  <a:rPr lang="" sz="2000" dirty="0">
                    <a:latin typeface="+mn-lt"/>
                  </a:rPr>
                  <a:t>50% exposure decreases from 6038 s to 1839 s.</a:t>
                </a:r>
                <a:endParaRPr lang="tr-TR" sz="2000" dirty="0">
                  <a:latin typeface="+mn-lt"/>
                </a:endParaRPr>
              </a:p>
              <a:p>
                <a:pPr eaLnBrk="1" hangingPunct="1"/>
                <a:r>
                  <a:rPr lang="en-US" sz="2000" b="1" i="1" dirty="0">
                    <a:latin typeface="+mn-lt"/>
                  </a:rPr>
                  <a:t>Flow improves exposure, but transport is only the first bottleneck.</a:t>
                </a:r>
              </a:p>
            </p:txBody>
          </p:sp>
        </mc:Choice>
        <mc:Fallback>
          <p:sp>
            <p:nvSpPr>
              <p:cNvPr id="79" name="Text Box 189">
                <a:extLst>
                  <a:ext uri="{FF2B5EF4-FFF2-40B4-BE49-F238E27FC236}">
                    <a16:creationId xmlns:a16="http://schemas.microsoft.com/office/drawing/2014/main" id="{4E3A54A1-9206-0340-2930-030FCADCB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99897" y="10786366"/>
                <a:ext cx="8787392" cy="23151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AF3EF1C9-92C3-E204-34E2-E2075DD1C856}"/>
              </a:ext>
            </a:extLst>
          </p:cNvPr>
          <p:cNvSpPr/>
          <p:nvPr/>
        </p:nvSpPr>
        <p:spPr>
          <a:xfrm>
            <a:off x="32674793" y="8770180"/>
            <a:ext cx="8787392" cy="1411854"/>
          </a:xfrm>
          <a:prstGeom prst="rect">
            <a:avLst/>
          </a:prstGeom>
          <a:solidFill>
            <a:srgbClr val="9537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 3 </a:t>
            </a:r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Detection Is Not Universal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 Box 189">
                <a:extLst>
                  <a:ext uri="{FF2B5EF4-FFF2-40B4-BE49-F238E27FC236}">
                    <a16:creationId xmlns:a16="http://schemas.microsoft.com/office/drawing/2014/main" id="{360361D6-66AE-9A9F-EB72-54D9E94A7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74793" y="10182034"/>
                <a:ext cx="8787392" cy="26229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231978" tIns="231978" rIns="231978" bIns="231978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" sz="2000" dirty="0">
                    <a:latin typeface="+mn-lt"/>
                  </a:rPr>
                  <a:t>• Detectability was tested across HER2 concentration,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LID4096" sz="2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, coupling efficiency, and noise floor.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99 parameter combinations passed the 3σ detection threshold.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36 parameter combinations failed.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Detection</a:t>
                </a:r>
                <a:r>
                  <a:rPr lang="tr-TR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tr-TR" sz="2000" dirty="0">
                    <a:latin typeface="+mn-lt"/>
                  </a:rPr>
                  <a:t> i</a:t>
                </a:r>
                <a:r>
                  <a:rPr lang="" sz="2000" dirty="0">
                    <a:latin typeface="+mn-lt"/>
                  </a:rPr>
                  <a:t>mproves with higher concentration, tighter binding, stronger coupling, and lower noise.</a:t>
                </a:r>
                <a:endParaRPr lang="tr-TR" sz="2000" dirty="0">
                  <a:latin typeface="+mn-lt"/>
                </a:endParaRPr>
              </a:p>
              <a:p>
                <a:pPr eaLnBrk="1" hangingPunct="1"/>
                <a:r>
                  <a:rPr lang="en-US" sz="2000" b="1" i="1" dirty="0">
                    <a:latin typeface="+mn-lt"/>
                  </a:rPr>
                  <a:t>Sub-</a:t>
                </a:r>
                <a:r>
                  <a:rPr lang="en-US" sz="2000" b="1" i="1" dirty="0" err="1">
                    <a:latin typeface="+mn-lt"/>
                  </a:rPr>
                  <a:t>pM</a:t>
                </a:r>
                <a:r>
                  <a:rPr lang="en-US" sz="2000" b="1" i="1" dirty="0">
                    <a:latin typeface="+mn-lt"/>
                  </a:rPr>
                  <a:t> detection is possible only under favorable assumptions.</a:t>
                </a:r>
              </a:p>
            </p:txBody>
          </p:sp>
        </mc:Choice>
        <mc:Fallback>
          <p:sp>
            <p:nvSpPr>
              <p:cNvPr id="81" name="Text Box 189">
                <a:extLst>
                  <a:ext uri="{FF2B5EF4-FFF2-40B4-BE49-F238E27FC236}">
                    <a16:creationId xmlns:a16="http://schemas.microsoft.com/office/drawing/2014/main" id="{360361D6-66AE-9A9F-EB72-54D9E94A7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74793" y="10182034"/>
                <a:ext cx="8787392" cy="26229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>
            <a:extLst>
              <a:ext uri="{FF2B5EF4-FFF2-40B4-BE49-F238E27FC236}">
                <a16:creationId xmlns:a16="http://schemas.microsoft.com/office/drawing/2014/main" id="{68A58E51-57FA-83F1-925A-AD469356DE64}"/>
              </a:ext>
            </a:extLst>
          </p:cNvPr>
          <p:cNvSpPr/>
          <p:nvPr/>
        </p:nvSpPr>
        <p:spPr>
          <a:xfrm>
            <a:off x="32521614" y="25608833"/>
            <a:ext cx="9758288" cy="1401709"/>
          </a:xfrm>
          <a:prstGeom prst="rect">
            <a:avLst/>
          </a:prstGeom>
          <a:solidFill>
            <a:srgbClr val="9537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 5 </a:t>
            </a:r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Feasibility Requires Strict Design Conditions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 Box 189">
                <a:extLst>
                  <a:ext uri="{FF2B5EF4-FFF2-40B4-BE49-F238E27FC236}">
                    <a16:creationId xmlns:a16="http://schemas.microsoft.com/office/drawing/2014/main" id="{B255C537-9EC4-3705-CB04-FA63969ECD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21614" y="27010543"/>
                <a:ext cx="9758288" cy="32384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231978" tIns="231978" rIns="231978" bIns="231978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" sz="2000" dirty="0">
                    <a:latin typeface="+mn-lt"/>
                  </a:rPr>
                  <a:t>• Experiment E converts screening failure into design requirements.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Under PBS-like screening, detection is not robust beyond approximately 1 nm effective receptor-channel distance for the baseline case.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 = 10 pM, 10 pA noise, PBS-like screening, d = 1 nm: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required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 ≈ 0.0326 at 1 pM HER2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required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 ≈ 0.00561 at 10 pM HER2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Feasible detection requires short receptor distance, strong coupling, low noise, and screening control</a:t>
                </a:r>
                <a:endParaRPr lang="tr-TR" sz="2000" dirty="0">
                  <a:latin typeface="+mn-lt"/>
                </a:endParaRPr>
              </a:p>
              <a:p>
                <a:pPr eaLnBrk="1" hangingPunct="1"/>
                <a:r>
                  <a:rPr lang="en-US" sz="2000" b="1" i="1" dirty="0">
                    <a:latin typeface="+mn-lt"/>
                  </a:rPr>
                  <a:t>The output is not proof of clinical feasibility; it is a design requirement map.</a:t>
                </a:r>
              </a:p>
            </p:txBody>
          </p:sp>
        </mc:Choice>
        <mc:Fallback>
          <p:sp>
            <p:nvSpPr>
              <p:cNvPr id="83" name="Text Box 189">
                <a:extLst>
                  <a:ext uri="{FF2B5EF4-FFF2-40B4-BE49-F238E27FC236}">
                    <a16:creationId xmlns:a16="http://schemas.microsoft.com/office/drawing/2014/main" id="{B255C537-9EC4-3705-CB04-FA63969EC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21614" y="27010543"/>
                <a:ext cx="9758288" cy="32384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>
            <a:extLst>
              <a:ext uri="{FF2B5EF4-FFF2-40B4-BE49-F238E27FC236}">
                <a16:creationId xmlns:a16="http://schemas.microsoft.com/office/drawing/2014/main" id="{31820665-BF0B-ACF3-0692-F0D99D97DA6E}"/>
              </a:ext>
            </a:extLst>
          </p:cNvPr>
          <p:cNvSpPr/>
          <p:nvPr/>
        </p:nvSpPr>
        <p:spPr>
          <a:xfrm>
            <a:off x="9209881" y="25651756"/>
            <a:ext cx="12693564" cy="11207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Main Engineering Conclusion</a:t>
            </a:r>
          </a:p>
        </p:txBody>
      </p:sp>
      <p:sp>
        <p:nvSpPr>
          <p:cNvPr id="85" name="Text Box 189">
            <a:extLst>
              <a:ext uri="{FF2B5EF4-FFF2-40B4-BE49-F238E27FC236}">
                <a16:creationId xmlns:a16="http://schemas.microsoft.com/office/drawing/2014/main" id="{0FF0BB1C-E7D5-5D60-59CF-764CF20B3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9881" y="26772530"/>
            <a:ext cx="12693564" cy="29306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231978" tIns="231978" rIns="231978" bIns="23197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+mn-lt"/>
              </a:rPr>
              <a:t>• Directional flow increases HER2 exposure at the sensing region.</a:t>
            </a:r>
          </a:p>
          <a:p>
            <a:pPr eaLnBrk="1" hangingPunct="1"/>
            <a:r>
              <a:rPr lang="en-US" sz="2000" dirty="0">
                <a:latin typeface="+mn-lt"/>
              </a:rPr>
              <a:t>• Sensor placement affects response timing and current response.</a:t>
            </a:r>
          </a:p>
          <a:p>
            <a:pPr eaLnBrk="1" hangingPunct="1"/>
            <a:r>
              <a:rPr lang="en-US" sz="2000" dirty="0">
                <a:latin typeface="+mn-lt"/>
              </a:rPr>
              <a:t>• Detectability is conditional, not guaranteed.</a:t>
            </a:r>
          </a:p>
          <a:p>
            <a:pPr eaLnBrk="1" hangingPunct="1"/>
            <a:r>
              <a:rPr lang="en-US" sz="2000" dirty="0">
                <a:latin typeface="+mn-lt"/>
              </a:rPr>
              <a:t>• Under physiological-like screening, receptor-channel distance and electronics noise dominate feasibility.</a:t>
            </a:r>
          </a:p>
          <a:p>
            <a:pPr eaLnBrk="1" hangingPunct="1"/>
            <a:r>
              <a:rPr lang="en-US" sz="2000" dirty="0">
                <a:latin typeface="+mn-lt"/>
              </a:rPr>
              <a:t>• A feasible GFET-HER2 design requires short receptor distance, strong coupling, low noise, favorable binding, and screening mitigation.</a:t>
            </a:r>
          </a:p>
          <a:p>
            <a:pPr eaLnBrk="1" hangingPunct="1"/>
            <a:endParaRPr lang="en-US" sz="2000" b="1" dirty="0">
              <a:solidFill>
                <a:srgbClr val="C00000"/>
              </a:solidFill>
              <a:latin typeface="+mn-lt"/>
            </a:endParaRPr>
          </a:p>
          <a:p>
            <a:pPr eaLnBrk="1" hangingPunct="1"/>
            <a:r>
              <a:rPr lang="en-US" sz="2000" b="1" dirty="0">
                <a:solidFill>
                  <a:srgbClr val="C00000"/>
                </a:solidFill>
                <a:latin typeface="+mn-lt"/>
              </a:rPr>
              <a:t>Transport can be improved; electrical detectability remains the hard constraint.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F4B1677-DA03-8852-5C47-A9F4DFB4ADD2}"/>
              </a:ext>
            </a:extLst>
          </p:cNvPr>
          <p:cNvSpPr/>
          <p:nvPr/>
        </p:nvSpPr>
        <p:spPr>
          <a:xfrm>
            <a:off x="32736475" y="17575179"/>
            <a:ext cx="8787392" cy="1300585"/>
          </a:xfrm>
          <a:prstGeom prst="rect">
            <a:avLst/>
          </a:prstGeom>
          <a:solidFill>
            <a:srgbClr val="95373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 4 </a:t>
            </a:r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Physiological Screening</a:t>
            </a:r>
            <a:r>
              <a:rPr lang="tr-TR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Suppresses</a:t>
            </a:r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the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 Box 189">
                <a:extLst>
                  <a:ext uri="{FF2B5EF4-FFF2-40B4-BE49-F238E27FC236}">
                    <a16:creationId xmlns:a16="http://schemas.microsoft.com/office/drawing/2014/main" id="{9F5256B7-0FC4-6C42-76FC-1AD14E74B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36475" y="18875765"/>
                <a:ext cx="8787392" cy="26229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231978" tIns="231978" rIns="231978" bIns="231978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" sz="2000" dirty="0">
                    <a:latin typeface="+mn-lt"/>
                  </a:rPr>
                  <a:t>• Debye screening attenuates effective GFET coupling:</a:t>
                </a:r>
                <a:br>
                  <a:rPr lang="" sz="2000" dirty="0">
                    <a:latin typeface="+mn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nor/>
                          </m:rPr>
                          <a:rPr lang="LID4096" sz="2000" i="0" smtClean="0">
                            <a:latin typeface="Cambria Math" panose="02040503050406030204" pitchFamily="18" charset="0"/>
                          </a:rPr>
                          <m:t>eff</m:t>
                        </m:r>
                      </m:sub>
                    </m:sSub>
                  </m:oMath>
                </a14:m>
                <a:r>
                  <a:rPr lang="tr-TR" sz="2000" dirty="0">
                    <a:latin typeface="+mn-lt"/>
                  </a:rPr>
                  <a:t> </a:t>
                </a:r>
                <a:r>
                  <a:rPr lang="" sz="2000" dirty="0">
                    <a:latin typeface="+mn-lt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" sz="2000" dirty="0">
                    <a:latin typeface="+mn-lt"/>
                  </a:rPr>
                  <a:t> exp(−d / λD)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PBS-like screening uses λD ≈ 0.8 nm.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For PBS-like screening and d ≥ 5 nm, 0/60 screened cases remain detectable.</a:t>
                </a:r>
                <a:br>
                  <a:rPr lang="" sz="2000" dirty="0">
                    <a:latin typeface="+mn-lt"/>
                  </a:rPr>
                </a:br>
                <a:r>
                  <a:rPr lang="" sz="2000" dirty="0">
                    <a:latin typeface="+mn-lt"/>
                  </a:rPr>
                  <a:t>• Transport improvement alone cannot overcome electrostatic screening.</a:t>
                </a:r>
                <a:endParaRPr lang="tr-TR" sz="2000" dirty="0">
                  <a:latin typeface="+mn-lt"/>
                </a:endParaRPr>
              </a:p>
              <a:p>
                <a:pPr eaLnBrk="1" hangingPunct="1"/>
                <a:r>
                  <a:rPr lang="en-US" sz="2000" b="1" i="1" dirty="0">
                    <a:latin typeface="+mn-lt"/>
                  </a:rPr>
                  <a:t>Main negative result: even if HER2 reaches the sensor, the signal can be screened out.</a:t>
                </a:r>
              </a:p>
            </p:txBody>
          </p:sp>
        </mc:Choice>
        <mc:Fallback>
          <p:sp>
            <p:nvSpPr>
              <p:cNvPr id="87" name="Text Box 189">
                <a:extLst>
                  <a:ext uri="{FF2B5EF4-FFF2-40B4-BE49-F238E27FC236}">
                    <a16:creationId xmlns:a16="http://schemas.microsoft.com/office/drawing/2014/main" id="{9F5256B7-0FC4-6C42-76FC-1AD14E74B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36475" y="18875765"/>
                <a:ext cx="8787392" cy="26229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78987B62-F7EB-04BA-126B-2009E05316F9}"/>
              </a:ext>
            </a:extLst>
          </p:cNvPr>
          <p:cNvSpPr/>
          <p:nvPr/>
        </p:nvSpPr>
        <p:spPr>
          <a:xfrm>
            <a:off x="2620101" y="25651756"/>
            <a:ext cx="4968424" cy="10576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Key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 Box 189">
                <a:extLst>
                  <a:ext uri="{FF2B5EF4-FFF2-40B4-BE49-F238E27FC236}">
                    <a16:creationId xmlns:a16="http://schemas.microsoft.com/office/drawing/2014/main" id="{09E1D88B-6299-71ED-CD80-319D0E3C84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0101" y="26709406"/>
                <a:ext cx="4968424" cy="29306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 wrap="square" lIns="231978" tIns="231978" rIns="231978" bIns="231978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2000" dirty="0">
                    <a:latin typeface="+mn-lt"/>
                  </a:rPr>
                  <a:t>• HER2 concentration: 0.5–1000 </a:t>
                </a:r>
                <a:r>
                  <a:rPr lang="en-US" sz="2000" dirty="0" err="1">
                    <a:latin typeface="+mn-lt"/>
                  </a:rPr>
                  <a:t>pM</a:t>
                </a:r>
                <a:endParaRPr lang="en-US" sz="2000" dirty="0">
                  <a:latin typeface="+mn-lt"/>
                </a:endParaRP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Baseline C: 10 </a:t>
                </a:r>
                <a:r>
                  <a:rPr lang="en-US" sz="2000" dirty="0" err="1">
                    <a:latin typeface="+mn-lt"/>
                  </a:rPr>
                  <a:t>pM</a:t>
                </a:r>
                <a:endParaRPr lang="en-US" sz="2000" dirty="0">
                  <a:latin typeface="+mn-lt"/>
                </a:endParaRP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+mn-lt"/>
                  </a:rPr>
                  <a:t> sweep: 1, 10, 100 </a:t>
                </a:r>
                <a:r>
                  <a:rPr lang="en-US" sz="2000" dirty="0" err="1">
                    <a:latin typeface="+mn-lt"/>
                  </a:rPr>
                  <a:t>pM</a:t>
                </a:r>
                <a:endParaRPr lang="en-US" sz="2000" dirty="0">
                  <a:latin typeface="+mn-lt"/>
                </a:endParaRP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M2B velocity: 0 to 1 × 10⁻⁶ m/s</a:t>
                </a: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LID4096" sz="20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sz="2000" dirty="0">
                    <a:latin typeface="+mn-lt"/>
                  </a:rPr>
                  <a:t> </a:t>
                </a:r>
                <a:r>
                  <a:rPr lang="en-US" sz="2000" dirty="0">
                    <a:latin typeface="+mn-lt"/>
                  </a:rPr>
                  <a:t>sweep: 0.01, 0.03, 0.1</a:t>
                </a: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Noise floor: 1–100 </a:t>
                </a:r>
                <a:r>
                  <a:rPr lang="en-US" sz="2000" dirty="0" err="1">
                    <a:latin typeface="+mn-lt"/>
                  </a:rPr>
                  <a:t>pA</a:t>
                </a:r>
                <a:endParaRPr lang="en-US" sz="2000" dirty="0">
                  <a:latin typeface="+mn-lt"/>
                </a:endParaRP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Debye length: 9.6, 3.0, 0.8 nm</a:t>
                </a:r>
              </a:p>
              <a:p>
                <a:pPr eaLnBrk="1" hangingPunct="1"/>
                <a:r>
                  <a:rPr lang="en-US" sz="2000" dirty="0">
                    <a:latin typeface="+mn-lt"/>
                  </a:rPr>
                  <a:t>• Receptor-channel distance: 0.5–10 nm</a:t>
                </a:r>
              </a:p>
            </p:txBody>
          </p:sp>
        </mc:Choice>
        <mc:Fallback>
          <p:sp>
            <p:nvSpPr>
              <p:cNvPr id="89" name="Text Box 189">
                <a:extLst>
                  <a:ext uri="{FF2B5EF4-FFF2-40B4-BE49-F238E27FC236}">
                    <a16:creationId xmlns:a16="http://schemas.microsoft.com/office/drawing/2014/main" id="{09E1D88B-6299-71ED-CD80-319D0E3C8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0101" y="26709406"/>
                <a:ext cx="4968424" cy="29306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DEA50B19-75FF-8978-87D7-A6F04983F8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5167" y="4094632"/>
            <a:ext cx="7644117" cy="659224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3EE1EE3-0D17-4F4A-F9F5-A723909E3E9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9896" y="14661807"/>
            <a:ext cx="8806990" cy="4301088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E6E1ECEA-2183-4E65-9715-D0EB89DBB1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08281" y="13846707"/>
            <a:ext cx="8424498" cy="6052383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3A9B3B1-8495-D4CF-0C9F-6D9713923C6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46416" y="4004878"/>
            <a:ext cx="7894353" cy="535728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2FA22C6-FF5B-04E2-18F6-F6FE1236342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41153" y="13215136"/>
            <a:ext cx="7704878" cy="537724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9E29DB22-C955-5710-1D89-8BF69E10F04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82122" y="3896708"/>
            <a:ext cx="8496098" cy="4849598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012579E-3F4B-DCC6-E5F4-764035AC16C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178444" y="13005968"/>
            <a:ext cx="7903453" cy="454448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8BE0A62-F7C0-2F20-D043-0B96DE5EE5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945024" y="21523294"/>
            <a:ext cx="6246929" cy="39606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3143D3-789F-60CC-79A6-A4B4595250D7}"/>
              </a:ext>
            </a:extLst>
          </p:cNvPr>
          <p:cNvSpPr/>
          <p:nvPr/>
        </p:nvSpPr>
        <p:spPr>
          <a:xfrm>
            <a:off x="23524801" y="25651756"/>
            <a:ext cx="7562488" cy="10576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988" tIns="57994" rIns="115988" bIns="57994" rtlCol="0" anchor="ctr"/>
          <a:lstStyle/>
          <a:p>
            <a:pPr algn="ctr"/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Limitations &amp; Future Work</a:t>
            </a:r>
            <a:endParaRPr lang="en-US" sz="40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Box 189">
            <a:extLst>
              <a:ext uri="{FF2B5EF4-FFF2-40B4-BE49-F238E27FC236}">
                <a16:creationId xmlns:a16="http://schemas.microsoft.com/office/drawing/2014/main" id="{2DD465FA-A0E2-94D1-062E-F43DC3549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4801" y="26709406"/>
            <a:ext cx="7562488" cy="29306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231978" tIns="231978" rIns="231978" bIns="23197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+mn-lt"/>
              </a:rPr>
              <a:t>• </a:t>
            </a:r>
            <a:r>
              <a:rPr lang="en-US" sz="2000" b="1" dirty="0">
                <a:latin typeface="+mn-lt"/>
              </a:rPr>
              <a:t>Simulation-only study</a:t>
            </a:r>
            <a:r>
              <a:rPr lang="en-US" sz="2000" dirty="0">
                <a:latin typeface="+mn-lt"/>
              </a:rPr>
              <a:t>; no fabricated GFET or clinical validation.</a:t>
            </a:r>
          </a:p>
          <a:p>
            <a:pPr eaLnBrk="1" hangingPunct="1"/>
            <a:r>
              <a:rPr lang="en-US" sz="2000" dirty="0">
                <a:latin typeface="+mn-lt"/>
              </a:rPr>
              <a:t>• M2B uses </a:t>
            </a:r>
            <a:r>
              <a:rPr lang="en-US" sz="2000" b="1" dirty="0">
                <a:latin typeface="+mn-lt"/>
              </a:rPr>
              <a:t>prescribed velocity</a:t>
            </a:r>
            <a:r>
              <a:rPr lang="en-US" sz="2000" dirty="0">
                <a:latin typeface="+mn-lt"/>
              </a:rPr>
              <a:t>, not validated Darcy/Brinkman lymph flow.</a:t>
            </a:r>
          </a:p>
          <a:p>
            <a:pPr eaLnBrk="1" hangingPunct="1"/>
            <a:r>
              <a:rPr lang="en-US" sz="2000" dirty="0">
                <a:latin typeface="+mn-lt"/>
              </a:rPr>
              <a:t>• GFET response and Debye screening are </a:t>
            </a:r>
            <a:r>
              <a:rPr lang="en-US" sz="2000" b="1" dirty="0">
                <a:latin typeface="+mn-lt"/>
              </a:rPr>
              <a:t>analytical feasibility models</a:t>
            </a:r>
            <a:r>
              <a:rPr lang="en-US" sz="2000" dirty="0">
                <a:latin typeface="+mn-lt"/>
              </a:rPr>
              <a:t>.</a:t>
            </a:r>
          </a:p>
          <a:p>
            <a:pPr eaLnBrk="1" hangingPunct="1"/>
            <a:r>
              <a:rPr lang="en-US" sz="2000" dirty="0">
                <a:latin typeface="+mn-lt"/>
              </a:rPr>
              <a:t>• </a:t>
            </a:r>
            <a:r>
              <a:rPr lang="en-US" sz="2000" b="1" dirty="0">
                <a:latin typeface="+mn-lt"/>
              </a:rPr>
              <a:t>Future work</a:t>
            </a:r>
            <a:r>
              <a:rPr lang="en-US" sz="2000" dirty="0">
                <a:latin typeface="+mn-lt"/>
              </a:rPr>
              <a:t>: experimental binding validation, low-noise readout, shorter receptor-channel distance, and improved flow/electrostatic modeling.</a:t>
            </a:r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3316</TotalTime>
  <Words>942</Words>
  <Application>Microsoft Office PowerPoint</Application>
  <PresentationFormat>Custom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Duran Kaan Altın</cp:lastModifiedBy>
  <cp:revision>75</cp:revision>
  <cp:lastPrinted>2026-06-10T09:37:49Z</cp:lastPrinted>
  <dcterms:created xsi:type="dcterms:W3CDTF">2013-02-10T21:14:48Z</dcterms:created>
  <dcterms:modified xsi:type="dcterms:W3CDTF">2026-06-10T09:37:54Z</dcterms:modified>
</cp:coreProperties>
</file>